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Cross-Sell Propensity &amp; Customer NPV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Who to target next, and what it's worth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 our existing customers, which should we target for the next-product offer?</a:t>
            </a:r>
          </a:p>
          <a:p>
            <a:pPr>
              <a:defRPr sz="1800"/>
            </a:pPr>
            <a:r>
              <a:t>How sure are we the attributes we target on actually matter?</a:t>
            </a:r>
          </a:p>
          <a:p>
            <a:pPr>
              <a:defRPr sz="1800"/>
            </a:pPr>
            <a:r>
              <a:t>What is the long-term value of pursuing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45,211 customers, real UCI Bank Marketing data</a:t>
            </a:r>
          </a:p>
          <a:p>
            <a:pPr>
              <a:defRPr sz="1800"/>
            </a:pPr>
            <a:r>
              <a:t>Logistic regression (interpretable, odds ratios) vs. gradient boosting benchmark</a:t>
            </a:r>
          </a:p>
          <a:p>
            <a:pPr>
              <a:defRPr sz="1800"/>
            </a:pPr>
            <a:r>
              <a:t>Chi-square / t-tests + Benjamini-Hochberg correction to separate real drivers from noise</a:t>
            </a:r>
          </a:p>
          <a:p>
            <a:pPr>
              <a:defRPr sz="1800"/>
            </a:pPr>
            <a:r>
              <a:t>Calibration + cost-sensitive threshold so propensity x dollars is honest</a:t>
            </a:r>
          </a:p>
          <a:p>
            <a:pPr>
              <a:defRPr sz="1800"/>
            </a:pPr>
            <a:r>
              <a:t>Shallow decision tree segments customers into High/Med/Low target tiers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AUC 0.773 vs. GBM AUC 0.802</a:t>
            </a:r>
          </a:p>
          <a:p>
            <a:pPr>
              <a:defRPr sz="1800"/>
            </a:pPr>
            <a:r>
              <a:t>Logistic PR-AUC 0.419 vs. GBM PR-AUC 0.460</a:t>
            </a:r>
          </a:p>
          <a:p>
            <a:pPr>
              <a:defRPr sz="1800"/>
            </a:pPr>
            <a:r>
              <a:t>Real drivers (FDR-significant and practically important): poutcome, pdays, previous, campaign, month, contact, housing, job</a:t>
            </a:r>
          </a:p>
          <a:p>
            <a:pPr>
              <a:defRPr sz="1800"/>
            </a:pPr>
            <a:r>
              <a:t>Back-tested on held-out, out-of-time data: High-tier customers subscribed at a meaningfully higher rate</a:t>
            </a:r>
          </a:p>
        </p:txBody>
      </p:sp>
      <p:pic>
        <p:nvPicPr>
          <p:cNvPr id="4" name="Picture 3" descr="lift_gain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13896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tier: 300,278 expected NPV</a:t>
            </a:r>
          </a:p>
          <a:p>
            <a:pPr>
              <a:defRPr sz="1800"/>
            </a:pPr>
            <a:r>
              <a:t>Medium tier: 73,551 expected NPV</a:t>
            </a:r>
          </a:p>
          <a:p>
            <a:pPr>
              <a:defRPr sz="1800"/>
            </a:pPr>
            <a:r>
              <a:t>Low tier: -77,214 expected NPV</a:t>
            </a:r>
          </a:p>
          <a:p>
            <a:pPr>
              <a:defRPr sz="1800"/>
            </a:pPr>
            <a:r>
              <a:t>Target High + Medium tiers; full ranked list in target_list.csv</a:t>
            </a:r>
          </a:p>
          <a:p>
            <a:pPr>
              <a:defRPr sz="1800"/>
            </a:pPr>
            <a:r>
              <a:t>Assumptions (margin, retention, cost) are toggleable in npv_model.xlsx</a:t>
            </a:r>
          </a:p>
        </p:txBody>
      </p:sp>
      <p:pic>
        <p:nvPicPr>
          <p:cNvPr id="4" name="Picture 3" descr="npv_by_tie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537759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